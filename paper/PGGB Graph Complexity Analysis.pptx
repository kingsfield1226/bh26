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58"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4610"/>
  </p:normalViewPr>
  <p:slideViewPr>
    <p:cSldViewPr snapToGrid="0" snapToObjects="1">
      <p:cViewPr varScale="1">
        <p:scale>
          <a:sx n="125" d="100"/>
          <a:sy n="125" d="100"/>
        </p:scale>
        <p:origin x="23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092064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looks at pangenome graphs -- graphs built from many human genomes at once with a tool called PGGB, so mapping can account for real human genetic diversity instead of one reference. The vg Giraffe team published this year that they still cannot build genome-scale Giraffe indexes for PGGB graphs -- the topology is too complex, an open, unsolved problem. So we asked a narrower, testable version of it at a small local scale: 100 kilobase windows on human chromosome 21. We computed an explicit complexity score for all 326 valid windows -- shown in figure 1 -- and the distribution is heavily right-skewed, with most windows clustered near the median. That is exactly why we did not sample uniformly: we drew a stratified sample of 50 regions, balanced across complexity and a separate known-hazard annotation, so that rare extreme and hazardous windows would not be missed.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 not stop at a handful of hand-picked regions, because our first small comparison gave misleading signals. So we built a systematic design: for each of 326 valid 100-kilobase windows on chromosome 21, we computed both a complexity score from local graph topology, and a separate known-hazard flag -- whether the region overlaps a segmental duplication or large tandem repeat, using public UCSC annotation tracks. We sampled 50 regions across all four combinations of high and low complexity, hazard and no hazard, and ran the full indexing and mapping pipeline on each, replicating at three growing sample sizes to confirm the pattern held. The result, shown in this three-panel figure: complexity score reliably predicts whether the pipeline finishes at all -- 0 percent failure below the median score, 16 percent above it. But it does not predict accuracy among the regions that do finish. That is predicted instead by the hazard flag: no known hazard, minimum accuracy 99.5 percent; hazard-flagged, as low as 98.7 percent. One important caveat: failure was defined by a fixed 30-minute compute budget per region. We know from earlier in this project that this ceiling matters -- two regions we originally logged as failures under a 10-minute budget turned out to complete successfully once we gave them 30 minutes. So the 16 percent failure rate should be read as an upper bound under our specific resource budget, not proof that those regions are mathematically impossible to index, and the exact percentage carries real statistical uncertainty given only 4 events.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Two findings, each replicated across three independently grown sample sizes: n=20, n=30, n=50. First, complexity score predicts whether the pipeline completes within our compute budget, but not accuracy among completed regions. Second, the known-hazard annotation predicts accuracy loss among completed regions, but not whether the pipeline completes. Neither predictor substitutes for the other. Now the limitations, which matter for how strongly to read these numbers. Pipeline failure here means no result within a fixed thirty-minute, single-machine compute budget, not a proof of mathematical intractability -- we already saw two comparable cases elsewhere in this project succeed once given more time, so with a longer timeout some of the current sixteen percent might resolve too. Also, that sixteen percent comes from only four failure events out of twenty-five high-complexity regions, so while the pattern itself replicated three times, the precise percentage has real statistical uncertainty. We also have not tested whether more compute would close the gap, or whether this pattern holds outside chromosome 21.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11200" y="609600"/>
            <a:ext cx="11092688" cy="6858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111111"/>
                </a:solidFill>
                <a:latin typeface="IBM Plex Sans" pitchFamily="34" charset="0"/>
                <a:ea typeface="IBM Plex Sans" pitchFamily="34" charset="-122"/>
                <a:cs typeface="IBM Plex Sans" pitchFamily="34" charset="-120"/>
              </a:rPr>
              <a:t>Does local graph complexity predict vg</a:t>
            </a:r>
            <a:r>
              <a:rPr lang="ja-JP" altLang="en-US" sz="2000" b="1">
                <a:solidFill>
                  <a:srgbClr val="111111"/>
                </a:solidFill>
                <a:latin typeface="IBM Plex Sans" pitchFamily="34" charset="0"/>
                <a:ea typeface="IBM Plex Sans" pitchFamily="34" charset="-122"/>
                <a:cs typeface="IBM Plex Sans" pitchFamily="34" charset="-120"/>
              </a:rPr>
              <a:t> </a:t>
            </a:r>
            <a:r>
              <a:rPr lang="en-US" sz="2000" b="1" dirty="0">
                <a:solidFill>
                  <a:srgbClr val="111111"/>
                </a:solidFill>
                <a:latin typeface="IBM Plex Sans" pitchFamily="34" charset="0"/>
                <a:ea typeface="IBM Plex Sans" pitchFamily="34" charset="-122"/>
                <a:cs typeface="IBM Plex Sans" pitchFamily="34" charset="-120"/>
              </a:rPr>
              <a:t>Giraffe indexing cost and mapping accuracy </a:t>
            </a:r>
            <a:br>
              <a:rPr lang="en-US" sz="2000" b="1" dirty="0">
                <a:solidFill>
                  <a:srgbClr val="111111"/>
                </a:solidFill>
                <a:latin typeface="IBM Plex Sans" pitchFamily="34" charset="0"/>
                <a:ea typeface="IBM Plex Sans" pitchFamily="34" charset="-122"/>
                <a:cs typeface="IBM Plex Sans" pitchFamily="34" charset="-120"/>
              </a:rPr>
            </a:br>
            <a:r>
              <a:rPr lang="en-US" sz="2000" b="1" dirty="0">
                <a:solidFill>
                  <a:srgbClr val="111111"/>
                </a:solidFill>
                <a:latin typeface="IBM Plex Sans" pitchFamily="34" charset="0"/>
                <a:ea typeface="IBM Plex Sans" pitchFamily="34" charset="-122"/>
                <a:cs typeface="IBM Plex Sans" pitchFamily="34" charset="-120"/>
              </a:rPr>
              <a:t>on a PGGB pangenome graph?</a:t>
            </a:r>
            <a:endParaRPr lang="en-US" sz="2000" dirty="0"/>
          </a:p>
        </p:txBody>
      </p:sp>
      <p:sp>
        <p:nvSpPr>
          <p:cNvPr id="3" name="Text 1"/>
          <p:cNvSpPr/>
          <p:nvPr/>
        </p:nvSpPr>
        <p:spPr>
          <a:xfrm>
            <a:off x="711200" y="2572395"/>
            <a:ext cx="5124482" cy="796925"/>
          </a:xfrm>
          <a:prstGeom prst="rect">
            <a:avLst/>
          </a:prstGeom>
          <a:noFill/>
          <a:ln/>
        </p:spPr>
        <p:txBody>
          <a:bodyPr wrap="square" lIns="0" tIns="0" rIns="0" bIns="0" rtlCol="0" anchor="t">
            <a:normAutofit/>
          </a:bodyPr>
          <a:lstStyle/>
          <a:p>
            <a:pPr marL="0" indent="0" algn="l">
              <a:lnSpc>
                <a:spcPts val="2025"/>
              </a:lnSpc>
              <a:buNone/>
            </a:pPr>
            <a:r>
              <a:rPr lang="en-US" sz="1350" dirty="0">
                <a:solidFill>
                  <a:srgbClr val="333333"/>
                </a:solidFill>
                <a:latin typeface="IBM Plex Sans" pitchFamily="34" charset="0"/>
                <a:ea typeface="IBM Plex Sans" pitchFamily="34" charset="-122"/>
                <a:cs typeface="IBM Plex Sans" pitchFamily="34" charset="-120"/>
              </a:rPr>
              <a:t>Pangenome graphs combine hundreds of human haplotypes into one graph. “</a:t>
            </a:r>
            <a:r>
              <a:rPr lang="en-US" sz="1350" i="1" dirty="0">
                <a:solidFill>
                  <a:srgbClr val="333333"/>
                </a:solidFill>
                <a:latin typeface="IBM Plex Sans" pitchFamily="34" charset="0"/>
                <a:ea typeface="IBM Plex Sans" pitchFamily="34" charset="-122"/>
                <a:cs typeface="IBM Plex Sans" pitchFamily="34" charset="-120"/>
              </a:rPr>
              <a:t>vg Giraffe”</a:t>
            </a:r>
            <a:r>
              <a:rPr lang="en-US" sz="1350" dirty="0">
                <a:solidFill>
                  <a:srgbClr val="333333"/>
                </a:solidFill>
                <a:latin typeface="IBM Plex Sans" pitchFamily="34" charset="0"/>
                <a:ea typeface="IBM Plex Sans" pitchFamily="34" charset="-122"/>
                <a:cs typeface="IBM Plex Sans" pitchFamily="34" charset="-120"/>
              </a:rPr>
              <a:t> is the standard short-read mapper for them.</a:t>
            </a:r>
            <a:endParaRPr lang="en-US" sz="1350" dirty="0"/>
          </a:p>
        </p:txBody>
      </p:sp>
      <p:sp>
        <p:nvSpPr>
          <p:cNvPr id="4" name="Text 2"/>
          <p:cNvSpPr/>
          <p:nvPr/>
        </p:nvSpPr>
        <p:spPr>
          <a:xfrm>
            <a:off x="711200" y="3521720"/>
            <a:ext cx="5124482" cy="1311275"/>
          </a:xfrm>
          <a:prstGeom prst="rect">
            <a:avLst/>
          </a:prstGeom>
          <a:noFill/>
          <a:ln/>
        </p:spPr>
        <p:txBody>
          <a:bodyPr wrap="square" lIns="0" tIns="0" rIns="0" bIns="0" rtlCol="0" anchor="t">
            <a:normAutofit/>
          </a:bodyPr>
          <a:lstStyle/>
          <a:p>
            <a:pPr marL="342900" indent="-342900" algn="l">
              <a:lnSpc>
                <a:spcPts val="2025"/>
              </a:lnSpc>
              <a:buSzPct val="100000"/>
              <a:buChar char="•"/>
            </a:pPr>
            <a:r>
              <a:rPr lang="en-US" sz="1350" dirty="0">
                <a:solidFill>
                  <a:srgbClr val="333333"/>
                </a:solidFill>
                <a:latin typeface="IBM Plex Sans" pitchFamily="34" charset="0"/>
                <a:ea typeface="IBM Plex Sans" pitchFamily="34" charset="-122"/>
                <a:cs typeface="IBM Plex Sans" pitchFamily="34" charset="-120"/>
              </a:rPr>
              <a:t>2025: the vg  Giraffe team reports they still cannot build genome-scale Giraffe indexes for PGGB graphs, due to topology.</a:t>
            </a:r>
            <a:endParaRPr lang="en-US" sz="1350" dirty="0"/>
          </a:p>
          <a:p>
            <a:pPr marL="342900" indent="-342900" algn="l">
              <a:lnSpc>
                <a:spcPts val="2025"/>
              </a:lnSpc>
              <a:buSzPct val="100000"/>
              <a:buChar char="•"/>
            </a:pPr>
            <a:r>
              <a:rPr lang="en-US" sz="1350" dirty="0">
                <a:solidFill>
                  <a:srgbClr val="333333"/>
                </a:solidFill>
                <a:latin typeface="IBM Plex Sans" pitchFamily="34" charset="0"/>
                <a:ea typeface="IBM Plex Sans" pitchFamily="34" charset="-122"/>
                <a:cs typeface="IBM Plex Sans" pitchFamily="34" charset="-120"/>
              </a:rPr>
              <a:t>This project tests a smaller, local version: 100 kb windows on human chromosome 21.</a:t>
            </a:r>
            <a:endParaRPr lang="en-US" sz="1350" dirty="0"/>
          </a:p>
        </p:txBody>
      </p:sp>
      <p:sp>
        <p:nvSpPr>
          <p:cNvPr id="5" name="Text 3"/>
          <p:cNvSpPr/>
          <p:nvPr/>
        </p:nvSpPr>
        <p:spPr>
          <a:xfrm>
            <a:off x="711200" y="4985395"/>
            <a:ext cx="5124482" cy="265410"/>
          </a:xfrm>
          <a:prstGeom prst="rect">
            <a:avLst/>
          </a:prstGeom>
          <a:noFill/>
          <a:ln/>
        </p:spPr>
        <p:txBody>
          <a:bodyPr wrap="square" lIns="0" tIns="0" rIns="0" bIns="0" rtlCol="0" anchor="t">
            <a:normAutofit/>
          </a:bodyPr>
          <a:lstStyle/>
          <a:p>
            <a:pPr marL="0" indent="0" algn="l">
              <a:lnSpc>
                <a:spcPts val="1890"/>
              </a:lnSpc>
              <a:buNone/>
            </a:pPr>
            <a:r>
              <a:rPr lang="en-US" sz="1350" b="1" dirty="0">
                <a:solidFill>
                  <a:srgbClr val="111111"/>
                </a:solidFill>
                <a:latin typeface="IBM Plex Sans" pitchFamily="34" charset="0"/>
                <a:ea typeface="IBM Plex Sans" pitchFamily="34" charset="-122"/>
                <a:cs typeface="IBM Plex Sans" pitchFamily="34" charset="-120"/>
              </a:rPr>
              <a:t>466 haplotypes · 367 windows screened · 50 regions analyzed</a:t>
            </a:r>
            <a:endParaRPr lang="en-US" sz="1350" dirty="0"/>
          </a:p>
        </p:txBody>
      </p:sp>
      <p:sp>
        <p:nvSpPr>
          <p:cNvPr id="6" name="Shape 4"/>
          <p:cNvSpPr/>
          <p:nvPr/>
        </p:nvSpPr>
        <p:spPr>
          <a:xfrm>
            <a:off x="6096000" y="1549400"/>
            <a:ext cx="0" cy="4699000"/>
          </a:xfrm>
          <a:prstGeom prst="line">
            <a:avLst/>
          </a:prstGeom>
          <a:noFill/>
          <a:ln w="6350">
            <a:solidFill>
              <a:srgbClr val="E5E5E5"/>
            </a:solidFill>
            <a:prstDash val="solid"/>
          </a:ln>
        </p:spPr>
      </p:sp>
      <p:pic>
        <p:nvPicPr>
          <p:cNvPr id="7" name="Image 0" descr="Histogram of complexity score across 326 valid chr21 windows, with the n=50 stratified sample marked by red dashed lines"/>
          <p:cNvPicPr>
            <a:picLocks noChangeAspect="1"/>
          </p:cNvPicPr>
          <p:nvPr/>
        </p:nvPicPr>
        <p:blipFill>
          <a:blip r:embed="rId3"/>
          <a:srcRect l="-49" r="-49"/>
          <a:stretch/>
        </p:blipFill>
        <p:spPr>
          <a:xfrm>
            <a:off x="6777038" y="2294930"/>
            <a:ext cx="4432300" cy="2679700"/>
          </a:xfrm>
          <a:prstGeom prst="rect">
            <a:avLst/>
          </a:prstGeom>
        </p:spPr>
      </p:pic>
      <p:sp>
        <p:nvSpPr>
          <p:cNvPr id="8" name="Shape 5"/>
          <p:cNvSpPr/>
          <p:nvPr/>
        </p:nvSpPr>
        <p:spPr>
          <a:xfrm>
            <a:off x="6773863" y="2291755"/>
            <a:ext cx="4438650" cy="2686050"/>
          </a:xfrm>
          <a:prstGeom prst="rect">
            <a:avLst/>
          </a:prstGeom>
          <a:noFill/>
          <a:ln w="6350">
            <a:solidFill>
              <a:srgbClr val="D8D8D8"/>
            </a:solidFill>
            <a:prstDash val="solid"/>
          </a:ln>
        </p:spPr>
      </p:sp>
      <p:sp>
        <p:nvSpPr>
          <p:cNvPr id="9" name="Text 6"/>
          <p:cNvSpPr/>
          <p:nvPr/>
        </p:nvSpPr>
        <p:spPr>
          <a:xfrm>
            <a:off x="6430947" y="5082580"/>
            <a:ext cx="5124482" cy="452041"/>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55555"/>
                </a:solidFill>
                <a:latin typeface="IBM Plex Sans" pitchFamily="34" charset="0"/>
                <a:ea typeface="IBM Plex Sans" pitchFamily="34" charset="-122"/>
                <a:cs typeface="IBM Plex Sans" pitchFamily="34" charset="-120"/>
              </a:rPr>
              <a:t>Figure 1. Complexity score across 326 valid windows — right-skewed, hence a stratified sample.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339080"/>
          </a:xfrm>
          <a:prstGeom prst="rect">
            <a:avLst/>
          </a:prstGeom>
          <a:noFill/>
          <a:ln/>
        </p:spPr>
        <p:txBody>
          <a:bodyPr wrap="square" lIns="0" tIns="0" rIns="0" bIns="0" rtlCol="0" anchor="t">
            <a:normAutofit/>
          </a:bodyPr>
          <a:lstStyle/>
          <a:p>
            <a:pPr marL="0" indent="0" algn="l">
              <a:lnSpc>
                <a:spcPts val="2470"/>
              </a:lnSpc>
              <a:buNone/>
            </a:pPr>
            <a:r>
              <a:rPr lang="en-US" sz="1900" b="1" dirty="0">
                <a:solidFill>
                  <a:srgbClr val="111111"/>
                </a:solidFill>
                <a:latin typeface="IBM Plex Sans" pitchFamily="34" charset="0"/>
                <a:ea typeface="IBM Plex Sans" pitchFamily="34" charset="-122"/>
                <a:cs typeface="IBM Plex Sans" pitchFamily="34" charset="-120"/>
              </a:rPr>
              <a:t>Results: complexity score and known-hazard annotation predict different outcomes</a:t>
            </a:r>
            <a:endParaRPr lang="en-US" sz="1900" dirty="0"/>
          </a:p>
        </p:txBody>
      </p:sp>
      <p:pic>
        <p:nvPicPr>
          <p:cNvPr id="3" name="Image 0" descr="Three-panel figure: scatter of complexity score vs. mapping accuracy colored by hazard flag; bar chart of pipeline failure rate by complexity tier; bar chart of mapping accuracy by hazard status"/>
          <p:cNvPicPr>
            <a:picLocks noChangeAspect="1"/>
          </p:cNvPicPr>
          <p:nvPr/>
        </p:nvPicPr>
        <p:blipFill>
          <a:blip r:embed="rId3"/>
          <a:stretch/>
        </p:blipFill>
        <p:spPr>
          <a:xfrm>
            <a:off x="1281427" y="1242814"/>
            <a:ext cx="9629146" cy="2908300"/>
          </a:xfrm>
          <a:prstGeom prst="rect">
            <a:avLst/>
          </a:prstGeom>
        </p:spPr>
      </p:pic>
      <p:sp>
        <p:nvSpPr>
          <p:cNvPr id="4" name="Shape 1"/>
          <p:cNvSpPr/>
          <p:nvPr/>
        </p:nvSpPr>
        <p:spPr>
          <a:xfrm>
            <a:off x="1530350" y="1239639"/>
            <a:ext cx="9131300" cy="2914650"/>
          </a:xfrm>
          <a:prstGeom prst="rect">
            <a:avLst/>
          </a:prstGeom>
          <a:noFill/>
          <a:ln w="6350">
            <a:solidFill>
              <a:srgbClr val="D8D8D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11200" y="4572298"/>
          <a:ext cx="10769600" cy="1211361"/>
        </p:xfrm>
        <a:graphic>
          <a:graphicData uri="http://schemas.openxmlformats.org/drawingml/2006/table">
            <a:tbl>
              <a:tblPr/>
              <a:tblGrid>
                <a:gridCol w="2800096">
                  <a:extLst>
                    <a:ext uri="{9D8B030D-6E8A-4147-A177-3AD203B41FA5}">
                      <a16:colId xmlns:a16="http://schemas.microsoft.com/office/drawing/2014/main" val="20000"/>
                    </a:ext>
                  </a:extLst>
                </a:gridCol>
                <a:gridCol w="3230880">
                  <a:extLst>
                    <a:ext uri="{9D8B030D-6E8A-4147-A177-3AD203B41FA5}">
                      <a16:colId xmlns:a16="http://schemas.microsoft.com/office/drawing/2014/main" val="20001"/>
                    </a:ext>
                  </a:extLst>
                </a:gridCol>
                <a:gridCol w="4738624">
                  <a:extLst>
                    <a:ext uri="{9D8B030D-6E8A-4147-A177-3AD203B41FA5}">
                      <a16:colId xmlns:a16="http://schemas.microsoft.com/office/drawing/2014/main" val="20002"/>
                    </a:ext>
                  </a:extLst>
                </a:gridCol>
              </a:tblGrid>
              <a:tr h="332680">
                <a:tc>
                  <a:txBody>
                    <a:bodyPr/>
                    <a:lstStyle/>
                    <a:p>
                      <a:pPr marL="0" indent="0">
                        <a:lnSpc>
                          <a:spcPts val="1680"/>
                        </a:lnSpc>
                        <a:buNone/>
                      </a:pPr>
                      <a:r>
                        <a:rPr lang="en-US" sz="1200" b="1" dirty="0">
                          <a:solidFill>
                            <a:srgbClr val="1A1A1A"/>
                          </a:solidFill>
                          <a:latin typeface="IBM Plex Sans" pitchFamily="34" charset="0"/>
                          <a:ea typeface="IBM Plex Sans" pitchFamily="34" charset="-122"/>
                          <a:cs typeface="IBM Plex Sans" pitchFamily="34" charset="-120"/>
                        </a:rPr>
                        <a:t>Outcome</a:t>
                      </a:r>
                      <a:endParaRPr lang="en-US" sz="1200" dirty="0">
                        <a:latin typeface="IBM Plex Sans" charset="0"/>
                        <a:ea typeface="IBM Plex Sans" charset="0"/>
                        <a:cs typeface="IBM Plex Sans" charset="0"/>
                      </a:endParaRPr>
                    </a:p>
                  </a:txBody>
                  <a:tcPr marL="53340" marR="53340" marT="53340" marB="53340">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DEDED"/>
                    </a:solidFill>
                  </a:tcPr>
                </a:tc>
                <a:tc>
                  <a:txBody>
                    <a:bodyPr/>
                    <a:lstStyle/>
                    <a:p>
                      <a:pPr marL="0" indent="0">
                        <a:lnSpc>
                          <a:spcPts val="1680"/>
                        </a:lnSpc>
                        <a:buNone/>
                      </a:pPr>
                      <a:r>
                        <a:rPr lang="en-US" sz="1200" b="1" dirty="0">
                          <a:solidFill>
                            <a:srgbClr val="1A1A1A"/>
                          </a:solidFill>
                          <a:latin typeface="IBM Plex Sans" pitchFamily="34" charset="0"/>
                          <a:ea typeface="IBM Plex Sans" pitchFamily="34" charset="-122"/>
                          <a:cs typeface="IBM Plex Sans" pitchFamily="34" charset="-120"/>
                        </a:rPr>
                        <a:t>Predictor</a:t>
                      </a:r>
                      <a:endParaRPr lang="en-US" sz="1200" dirty="0">
                        <a:latin typeface="IBM Plex Sans" charset="0"/>
                        <a:ea typeface="IBM Plex Sans" charset="0"/>
                        <a:cs typeface="IBM Plex Sans" charset="0"/>
                      </a:endParaRPr>
                    </a:p>
                  </a:txBody>
                  <a:tcPr marL="53340" marR="53340" marT="53340" marB="53340">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DEDED"/>
                    </a:solidFill>
                  </a:tcPr>
                </a:tc>
                <a:tc>
                  <a:txBody>
                    <a:bodyPr/>
                    <a:lstStyle/>
                    <a:p>
                      <a:pPr marL="0" indent="0">
                        <a:lnSpc>
                          <a:spcPts val="1680"/>
                        </a:lnSpc>
                        <a:buNone/>
                      </a:pPr>
                      <a:r>
                        <a:rPr lang="en-US" sz="1200" b="1" dirty="0">
                          <a:solidFill>
                            <a:srgbClr val="1A1A1A"/>
                          </a:solidFill>
                          <a:latin typeface="IBM Plex Sans" pitchFamily="34" charset="0"/>
                          <a:ea typeface="IBM Plex Sans" pitchFamily="34" charset="-122"/>
                          <a:cs typeface="IBM Plex Sans" pitchFamily="34" charset="-120"/>
                        </a:rPr>
                        <a:t>Result (n = 50)</a:t>
                      </a:r>
                      <a:endParaRPr lang="en-US" sz="1200" dirty="0">
                        <a:latin typeface="IBM Plex Sans" charset="0"/>
                        <a:ea typeface="IBM Plex Sans" charset="0"/>
                        <a:cs typeface="IBM Plex Sans" charset="0"/>
                      </a:endParaRPr>
                    </a:p>
                  </a:txBody>
                  <a:tcPr marL="53340" marR="53340" marT="53340" marB="53340">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DEDED"/>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1A1A1A"/>
                          </a:solidFill>
                          <a:latin typeface="IBM Plex Sans" pitchFamily="34" charset="0"/>
                          <a:ea typeface="IBM Plex Sans" pitchFamily="34" charset="-122"/>
                          <a:cs typeface="IBM Plex Sans" pitchFamily="34" charset="-120"/>
                        </a:rPr>
                        <a:t>Pipeline completes at 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tc>
                  <a:txBody>
                    <a:bodyPr/>
                    <a:lstStyle/>
                    <a:p>
                      <a:pPr marL="0" indent="0">
                        <a:lnSpc>
                          <a:spcPts val="1680"/>
                        </a:lnSpc>
                        <a:buNone/>
                      </a:pPr>
                      <a:r>
                        <a:rPr lang="en-US" sz="1200" dirty="0">
                          <a:solidFill>
                            <a:srgbClr val="1A1A1A"/>
                          </a:solidFill>
                          <a:latin typeface="IBM Plex Sans" pitchFamily="34" charset="0"/>
                          <a:ea typeface="IBM Plex Sans" pitchFamily="34" charset="-122"/>
                          <a:cs typeface="IBM Plex Sans" pitchFamily="34" charset="-120"/>
                        </a:rPr>
                        <a:t>Complexity tier (low vs. high)</a:t>
                      </a:r>
                      <a:endParaRPr lang="en-US" sz="1200" dirty="0">
                        <a:latin typeface="IBM Plex Sans" charset="0"/>
                        <a:ea typeface="IBM Plex Sans" charset="0"/>
                        <a:cs typeface="IBM Plex Sans" charset="0"/>
                      </a:endParaRPr>
                    </a:p>
                  </a:txBody>
                  <a:tcPr marL="53340" marR="53340" marT="53340" marB="53340">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tc>
                  <a:txBody>
                    <a:bodyPr/>
                    <a:lstStyle/>
                    <a:p>
                      <a:pPr marL="0" indent="0">
                        <a:lnSpc>
                          <a:spcPts val="1680"/>
                        </a:lnSpc>
                        <a:buNone/>
                      </a:pPr>
                      <a:r>
                        <a:rPr lang="en-US" sz="1200" dirty="0">
                          <a:solidFill>
                            <a:srgbClr val="1A1A1A"/>
                          </a:solidFill>
                          <a:latin typeface="IBM Plex Sans" pitchFamily="34" charset="0"/>
                          <a:ea typeface="IBM Plex Sans" pitchFamily="34" charset="-122"/>
                          <a:cs typeface="IBM Plex Sans" pitchFamily="34" charset="-120"/>
                        </a:rPr>
                        <a:t>0% failed below the median score; 16% above it</a:t>
                      </a:r>
                      <a:endParaRPr lang="en-US" sz="1200" dirty="0">
                        <a:latin typeface="IBM Plex Sans" charset="0"/>
                        <a:ea typeface="IBM Plex Sans" charset="0"/>
                        <a:cs typeface="IBM Plex Sans" charset="0"/>
                      </a:endParaRPr>
                    </a:p>
                  </a:txBody>
                  <a:tcPr marL="53340" marR="53340" marT="53340" marB="53340">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extLst>
                  <a:ext uri="{0D108BD9-81ED-4DB2-BD59-A6C34878D82A}">
                    <a16:rowId xmlns:a16="http://schemas.microsoft.com/office/drawing/2014/main" val="10001"/>
                  </a:ext>
                </a:extLst>
              </a:tr>
              <a:tr h="546001">
                <a:tc>
                  <a:txBody>
                    <a:bodyPr/>
                    <a:lstStyle/>
                    <a:p>
                      <a:pPr marL="0" indent="0">
                        <a:lnSpc>
                          <a:spcPts val="1680"/>
                        </a:lnSpc>
                        <a:buNone/>
                      </a:pPr>
                      <a:r>
                        <a:rPr lang="en-US" sz="1200" dirty="0">
                          <a:solidFill>
                            <a:srgbClr val="1A1A1A"/>
                          </a:solidFill>
                          <a:latin typeface="IBM Plex Sans" pitchFamily="34" charset="0"/>
                          <a:ea typeface="IBM Plex Sans" pitchFamily="34" charset="-122"/>
                          <a:cs typeface="IBM Plex Sans" pitchFamily="34" charset="-120"/>
                        </a:rPr>
                        <a:t>Mapping accuracy, given completion</a:t>
                      </a:r>
                      <a:endParaRPr lang="en-US" sz="1200" dirty="0">
                        <a:latin typeface="IBM Plex Sans" charset="0"/>
                        <a:ea typeface="IBM Plex Sans" charset="0"/>
                        <a:cs typeface="IBM Plex Sans" charset="0"/>
                      </a:endParaRPr>
                    </a:p>
                  </a:txBody>
                  <a:tcPr marL="53340" marR="53340" marT="53340" marB="53340">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tc>
                  <a:txBody>
                    <a:bodyPr/>
                    <a:lstStyle/>
                    <a:p>
                      <a:pPr marL="0" indent="0">
                        <a:lnSpc>
                          <a:spcPts val="1680"/>
                        </a:lnSpc>
                        <a:buNone/>
                      </a:pPr>
                      <a:r>
                        <a:rPr lang="en-US" sz="1200" dirty="0">
                          <a:solidFill>
                            <a:srgbClr val="1A1A1A"/>
                          </a:solidFill>
                          <a:latin typeface="IBM Plex Sans" pitchFamily="34" charset="0"/>
                          <a:ea typeface="IBM Plex Sans" pitchFamily="34" charset="-122"/>
                          <a:cs typeface="IBM Plex Sans" pitchFamily="34" charset="-120"/>
                        </a:rPr>
                        <a:t>Known-hazard flag (segmental duplication or large tandem repeat)</a:t>
                      </a:r>
                      <a:endParaRPr lang="en-US" sz="1200" dirty="0">
                        <a:latin typeface="IBM Plex Sans" charset="0"/>
                        <a:ea typeface="IBM Plex Sans" charset="0"/>
                        <a:cs typeface="IBM Plex Sans" charset="0"/>
                      </a:endParaRPr>
                    </a:p>
                  </a:txBody>
                  <a:tcPr marL="53340" marR="53340" marT="53340" marB="53340">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tc>
                  <a:txBody>
                    <a:bodyPr/>
                    <a:lstStyle/>
                    <a:p>
                      <a:pPr marL="0" indent="0">
                        <a:lnSpc>
                          <a:spcPts val="1680"/>
                        </a:lnSpc>
                        <a:buNone/>
                      </a:pPr>
                      <a:r>
                        <a:rPr lang="en-US" sz="1200" dirty="0">
                          <a:solidFill>
                            <a:srgbClr val="1A1A1A"/>
                          </a:solidFill>
                          <a:latin typeface="IBM Plex Sans" pitchFamily="34" charset="0"/>
                          <a:ea typeface="IBM Plex Sans" pitchFamily="34" charset="-122"/>
                          <a:cs typeface="IBM Plex Sans" pitchFamily="34" charset="-120"/>
                        </a:rPr>
                        <a:t>Minimum accuracy 99.53% without the flag; 98.69% with it</a:t>
                      </a:r>
                      <a:endParaRPr lang="en-US" sz="1200" dirty="0">
                        <a:latin typeface="IBM Plex Sans" charset="0"/>
                        <a:ea typeface="IBM Plex Sans" charset="0"/>
                        <a:cs typeface="IBM Plex Sans" charset="0"/>
                      </a:endParaRPr>
                    </a:p>
                  </a:txBody>
                  <a:tcPr marL="53340" marR="53340" marT="53340" marB="53340">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 2"/>
          <p:cNvSpPr/>
          <p:nvPr/>
        </p:nvSpPr>
        <p:spPr>
          <a:xfrm>
            <a:off x="711200" y="5923359"/>
            <a:ext cx="11092688" cy="45204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6B7280"/>
                </a:solidFill>
                <a:latin typeface="IBM Plex Sans" pitchFamily="34" charset="0"/>
                <a:ea typeface="IBM Plex Sans" pitchFamily="34" charset="-122"/>
                <a:cs typeface="IBM Plex Sans" pitchFamily="34" charset="-120"/>
              </a:rPr>
              <a:t>Note: "failed" means no result within a fixed 30-minute compute budget per region, not proven intractability. With only 4 failures among 25 high-complexity regions, 16% is approximate.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11200" y="609600"/>
            <a:ext cx="11092688" cy="355600"/>
          </a:xfrm>
          <a:prstGeom prst="rect">
            <a:avLst/>
          </a:prstGeom>
          <a:noFill/>
          <a:ln/>
        </p:spPr>
        <p:txBody>
          <a:bodyPr wrap="square" lIns="0" tIns="0" rIns="0" bIns="0" rtlCol="0" anchor="t">
            <a:normAutofit/>
          </a:bodyPr>
          <a:lstStyle/>
          <a:p>
            <a:pPr marL="0" indent="0" algn="l">
              <a:lnSpc>
                <a:spcPts val="2600"/>
              </a:lnSpc>
              <a:buNone/>
            </a:pPr>
            <a:r>
              <a:rPr lang="en-US" sz="2000" b="1" dirty="0">
                <a:solidFill>
                  <a:srgbClr val="111111"/>
                </a:solidFill>
                <a:latin typeface="IBM Plex Sans" pitchFamily="34" charset="0"/>
                <a:ea typeface="IBM Plex Sans" pitchFamily="34" charset="-122"/>
                <a:cs typeface="IBM Plex Sans" pitchFamily="34" charset="-120"/>
              </a:rPr>
              <a:t>Conclusions and limitations</a:t>
            </a:r>
            <a:endParaRPr lang="en-US" sz="2000" dirty="0"/>
          </a:p>
        </p:txBody>
      </p:sp>
      <p:sp>
        <p:nvSpPr>
          <p:cNvPr id="3" name="Text 1"/>
          <p:cNvSpPr/>
          <p:nvPr/>
        </p:nvSpPr>
        <p:spPr>
          <a:xfrm>
            <a:off x="711200" y="3040360"/>
            <a:ext cx="5124482"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11111"/>
                </a:solidFill>
                <a:latin typeface="IBM Plex Sans" pitchFamily="34" charset="0"/>
                <a:ea typeface="IBM Plex Sans" pitchFamily="34" charset="-122"/>
                <a:cs typeface="IBM Plex Sans" pitchFamily="34" charset="-120"/>
              </a:rPr>
              <a:t>Findings (n = 50)</a:t>
            </a:r>
            <a:endParaRPr lang="en-US" sz="1300" dirty="0"/>
          </a:p>
        </p:txBody>
      </p:sp>
      <p:sp>
        <p:nvSpPr>
          <p:cNvPr id="4" name="Text 2"/>
          <p:cNvSpPr/>
          <p:nvPr/>
        </p:nvSpPr>
        <p:spPr>
          <a:xfrm>
            <a:off x="711200" y="3398490"/>
            <a:ext cx="5124482" cy="1054100"/>
          </a:xfrm>
          <a:prstGeom prst="rect">
            <a:avLst/>
          </a:prstGeom>
          <a:noFill/>
          <a:ln/>
        </p:spPr>
        <p:txBody>
          <a:bodyPr wrap="square" lIns="0" tIns="0" rIns="0" bIns="0" rtlCol="0" anchor="t">
            <a:normAutofit/>
          </a:bodyPr>
          <a:lstStyle/>
          <a:p>
            <a:pPr marL="342900" indent="-342900" algn="l">
              <a:lnSpc>
                <a:spcPts val="2025"/>
              </a:lnSpc>
              <a:buSzPct val="100000"/>
              <a:buChar char="•"/>
            </a:pPr>
            <a:r>
              <a:rPr lang="en-US" sz="1350" dirty="0">
                <a:solidFill>
                  <a:srgbClr val="1A1A1A"/>
                </a:solidFill>
                <a:latin typeface="IBM Plex Sans" pitchFamily="34" charset="0"/>
                <a:ea typeface="IBM Plex Sans" pitchFamily="34" charset="-122"/>
                <a:cs typeface="IBM Plex Sans" pitchFamily="34" charset="-120"/>
              </a:rPr>
              <a:t>Complexity score predicts whether the pipeline completes — not accuracy.</a:t>
            </a:r>
            <a:endParaRPr lang="en-US" sz="1350" dirty="0"/>
          </a:p>
          <a:p>
            <a:pPr marL="342900" indent="-342900" algn="l">
              <a:lnSpc>
                <a:spcPts val="2025"/>
              </a:lnSpc>
              <a:buSzPct val="100000"/>
              <a:buChar char="•"/>
            </a:pPr>
            <a:r>
              <a:rPr lang="en-US" sz="1350" dirty="0">
                <a:solidFill>
                  <a:srgbClr val="1A1A1A"/>
                </a:solidFill>
                <a:latin typeface="IBM Plex Sans" pitchFamily="34" charset="0"/>
                <a:ea typeface="IBM Plex Sans" pitchFamily="34" charset="-122"/>
                <a:cs typeface="IBM Plex Sans" pitchFamily="34" charset="-120"/>
              </a:rPr>
              <a:t>Known-hazard annotation predicts accuracy loss — not completion.</a:t>
            </a:r>
            <a:endParaRPr lang="en-US" sz="1350" dirty="0"/>
          </a:p>
        </p:txBody>
      </p:sp>
      <p:sp>
        <p:nvSpPr>
          <p:cNvPr id="5" name="Shape 3"/>
          <p:cNvSpPr/>
          <p:nvPr/>
        </p:nvSpPr>
        <p:spPr>
          <a:xfrm>
            <a:off x="6096000" y="1219200"/>
            <a:ext cx="0" cy="5029200"/>
          </a:xfrm>
          <a:prstGeom prst="line">
            <a:avLst/>
          </a:prstGeom>
          <a:noFill/>
          <a:ln w="6350">
            <a:solidFill>
              <a:srgbClr val="E5E5E5"/>
            </a:solidFill>
            <a:prstDash val="solid"/>
          </a:ln>
        </p:spPr>
      </p:sp>
      <p:sp>
        <p:nvSpPr>
          <p:cNvPr id="6" name="Text 4"/>
          <p:cNvSpPr/>
          <p:nvPr/>
        </p:nvSpPr>
        <p:spPr>
          <a:xfrm>
            <a:off x="6505575" y="3078460"/>
            <a:ext cx="5124482"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11111"/>
                </a:solidFill>
                <a:latin typeface="IBM Plex Sans" pitchFamily="34" charset="0"/>
                <a:ea typeface="IBM Plex Sans" pitchFamily="34" charset="-122"/>
                <a:cs typeface="IBM Plex Sans" pitchFamily="34" charset="-120"/>
              </a:rPr>
              <a:t>Limitations</a:t>
            </a:r>
            <a:endParaRPr lang="en-US" sz="1300" dirty="0"/>
          </a:p>
        </p:txBody>
      </p:sp>
      <p:sp>
        <p:nvSpPr>
          <p:cNvPr id="7" name="Text 5"/>
          <p:cNvSpPr/>
          <p:nvPr/>
        </p:nvSpPr>
        <p:spPr>
          <a:xfrm>
            <a:off x="6505575" y="3436590"/>
            <a:ext cx="5124482" cy="977900"/>
          </a:xfrm>
          <a:prstGeom prst="rect">
            <a:avLst/>
          </a:prstGeom>
          <a:noFill/>
          <a:ln/>
        </p:spPr>
        <p:txBody>
          <a:bodyPr wrap="square" lIns="0" tIns="0" rIns="0" bIns="0" rtlCol="0" anchor="t">
            <a:normAutofit/>
          </a:bodyPr>
          <a:lstStyle/>
          <a:p>
            <a:pPr marL="342900" indent="-342900" algn="l">
              <a:lnSpc>
                <a:spcPts val="1875"/>
              </a:lnSpc>
              <a:buSzPct val="100000"/>
              <a:buChar char="•"/>
            </a:pPr>
            <a:r>
              <a:rPr lang="en-US" sz="1250" dirty="0">
                <a:solidFill>
                  <a:srgbClr val="333333"/>
                </a:solidFill>
                <a:latin typeface="IBM Plex Sans" pitchFamily="34" charset="0"/>
                <a:ea typeface="IBM Plex Sans" pitchFamily="34" charset="-122"/>
                <a:cs typeface="IBM Plex Sans" pitchFamily="34" charset="-120"/>
              </a:rPr>
              <a:t>"Failure" = no result within a 30-min, single-machine budget, not proven intractability.</a:t>
            </a:r>
            <a:endParaRPr lang="en-US" sz="1250" dirty="0"/>
          </a:p>
          <a:p>
            <a:pPr marL="342900" indent="-342900" algn="l">
              <a:lnSpc>
                <a:spcPts val="1875"/>
              </a:lnSpc>
              <a:buSzPct val="100000"/>
              <a:buChar char="•"/>
            </a:pPr>
            <a:r>
              <a:rPr lang="en-US" sz="1250" dirty="0">
                <a:solidFill>
                  <a:srgbClr val="333333"/>
                </a:solidFill>
                <a:latin typeface="IBM Plex Sans" pitchFamily="34" charset="0"/>
                <a:ea typeface="IBM Plex Sans" pitchFamily="34" charset="-122"/>
                <a:cs typeface="IBM Plex Sans" pitchFamily="34" charset="-120"/>
              </a:rPr>
              <a:t>16% comes from only 4 of 25 high-complexity regions — the exact figure is uncertain.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919</Words>
  <Application>Microsoft Macintosh PowerPoint</Application>
  <PresentationFormat>ワイド画面</PresentationFormat>
  <Paragraphs>30</Paragraphs>
  <Slides>3</Slides>
  <Notes>3</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vt:i4>
      </vt:variant>
    </vt:vector>
  </HeadingPairs>
  <TitlesOfParts>
    <vt:vector size="6" baseType="lpstr">
      <vt:lpstr>Arial</vt:lpstr>
      <vt:lpstr>IBM Plex Sans</vt:lpstr>
      <vt:lpstr>Office Theme</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PGGB Graph Complexity Analysis</dc:title>
  <dc:subject>PptxGenJS Presentation</dc:subject>
  <dc:creator>PptxGenJS</dc:creator>
  <cp:lastModifiedBy>Kazumichi Fujiwara</cp:lastModifiedBy>
  <cp:revision>4</cp:revision>
  <dcterms:created xsi:type="dcterms:W3CDTF">2026-09-18T13:36:35Z</dcterms:created>
  <dcterms:modified xsi:type="dcterms:W3CDTF">2026-09-19T00:24:03Z</dcterms:modified>
</cp:coreProperties>
</file>